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87" d="100"/>
          <a:sy n="87" d="100"/>
        </p:scale>
        <p:origin x="61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F7E1F-F1C3-49DE-A2C4-C4431DD2345D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49E49-E052-409C-9716-BD4CFFA6B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289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F7E1F-F1C3-49DE-A2C4-C4431DD2345D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49E49-E052-409C-9716-BD4CFFA6B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717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F7E1F-F1C3-49DE-A2C4-C4431DD2345D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49E49-E052-409C-9716-BD4CFFA6B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506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F7E1F-F1C3-49DE-A2C4-C4431DD2345D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49E49-E052-409C-9716-BD4CFFA6B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234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F7E1F-F1C3-49DE-A2C4-C4431DD2345D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49E49-E052-409C-9716-BD4CFFA6B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958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F7E1F-F1C3-49DE-A2C4-C4431DD2345D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49E49-E052-409C-9716-BD4CFFA6B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839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F7E1F-F1C3-49DE-A2C4-C4431DD2345D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49E49-E052-409C-9716-BD4CFFA6B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497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F7E1F-F1C3-49DE-A2C4-C4431DD2345D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49E49-E052-409C-9716-BD4CFFA6B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5504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F7E1F-F1C3-49DE-A2C4-C4431DD2345D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49E49-E052-409C-9716-BD4CFFA6B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550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F7E1F-F1C3-49DE-A2C4-C4431DD2345D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49E49-E052-409C-9716-BD4CFFA6B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7646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F7E1F-F1C3-49DE-A2C4-C4431DD2345D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49E49-E052-409C-9716-BD4CFFA6B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6389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F7E1F-F1C3-49DE-A2C4-C4431DD2345D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49E49-E052-409C-9716-BD4CFFA6BF07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638949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F7E1F-F1C3-49DE-A2C4-C4431DD2345D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49E49-E052-409C-9716-BD4CFFA6B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9281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F7E1F-F1C3-49DE-A2C4-C4431DD2345D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49E49-E052-409C-9716-BD4CFFA6B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8103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F7E1F-F1C3-49DE-A2C4-C4431DD2345D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49E49-E052-409C-9716-BD4CFFA6B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1867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F7E1F-F1C3-49DE-A2C4-C4431DD2345D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49E49-E052-409C-9716-BD4CFFA6B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4714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F7E1F-F1C3-49DE-A2C4-C4431DD2345D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49E49-E052-409C-9716-BD4CFFA6B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19674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F7E1F-F1C3-49DE-A2C4-C4431DD2345D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49E49-E052-409C-9716-BD4CFFA6B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717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E36F7E1F-F1C3-49DE-A2C4-C4431DD2345D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A3D49E49-E052-409C-9716-BD4CFFA6B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929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37891" y="420614"/>
            <a:ext cx="9566313" cy="1971712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dirty="0" smtClean="0"/>
              <a:t>RAILWAY TICKET SALES AND JOURNEY PERFORMANCE ANALYSIS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7665" y="3268807"/>
            <a:ext cx="10256703" cy="2787268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Business insights &amp; Operational Performance Review</a:t>
            </a:r>
          </a:p>
          <a:p>
            <a:endParaRPr lang="en-US" dirty="0" smtClean="0">
              <a:solidFill>
                <a:schemeClr val="tx1"/>
              </a:solidFill>
            </a:endParaRPr>
          </a:p>
          <a:p>
            <a:r>
              <a:rPr lang="en-US" dirty="0" err="1" smtClean="0">
                <a:solidFill>
                  <a:schemeClr val="tx1"/>
                </a:solidFill>
              </a:rPr>
              <a:t>Ganiyu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Rasheedat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Oluwakemi</a:t>
            </a:r>
            <a:endParaRPr lang="en-US" dirty="0" smtClean="0">
              <a:solidFill>
                <a:schemeClr val="tx1"/>
              </a:solidFill>
            </a:endParaRPr>
          </a:p>
          <a:p>
            <a:r>
              <a:rPr lang="en-US" dirty="0" smtClean="0">
                <a:solidFill>
                  <a:schemeClr val="tx1"/>
                </a:solidFill>
              </a:rPr>
              <a:t>Data Analytic Intern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May 2026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Tool used: Power Bi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3421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0101" y="150685"/>
            <a:ext cx="10364451" cy="870042"/>
          </a:xfrm>
        </p:spPr>
        <p:txBody>
          <a:bodyPr>
            <a:normAutofit/>
          </a:bodyPr>
          <a:lstStyle/>
          <a:p>
            <a:pPr algn="ctr"/>
            <a:r>
              <a:rPr lang="en-US" sz="3400" smtClean="0"/>
              <a:t>Business Overview &amp; Key Metrics</a:t>
            </a:r>
            <a:endParaRPr lang="en-US" sz="3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607" y="1105786"/>
            <a:ext cx="11391441" cy="5427215"/>
          </a:xfrm>
        </p:spPr>
        <p:txBody>
          <a:bodyPr/>
          <a:lstStyle/>
          <a:p>
            <a:r>
              <a:rPr lang="en-US" cap="none" dirty="0" smtClean="0"/>
              <a:t>The analysis focused on railway ticket sales, customer behavior, journey delays, refunds and operational performance to identify key business risks and growth opportunities. </a:t>
            </a:r>
          </a:p>
          <a:p>
            <a:endParaRPr lang="en-US" cap="none" dirty="0" smtClean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Content Placeholder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538" y="3754868"/>
            <a:ext cx="2400300" cy="12477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0775" y="3754868"/>
            <a:ext cx="2371725" cy="12382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6338" y="3754868"/>
            <a:ext cx="2362200" cy="12668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8100" y="3754868"/>
            <a:ext cx="2276475" cy="123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949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036" y="0"/>
            <a:ext cx="10515600" cy="1134737"/>
          </a:xfrm>
        </p:spPr>
        <p:txBody>
          <a:bodyPr>
            <a:normAutofit/>
          </a:bodyPr>
          <a:lstStyle/>
          <a:p>
            <a:pPr algn="ctr"/>
            <a:r>
              <a:rPr lang="en-US" sz="3400" dirty="0" smtClean="0"/>
              <a:t>Journey Delays &amp; Operational Challenges</a:t>
            </a:r>
            <a:endParaRPr lang="en-US" sz="3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3557" y="1002535"/>
            <a:ext cx="11468559" cy="565165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1" dirty="0" smtClean="0"/>
              <a:t>Insights</a:t>
            </a:r>
          </a:p>
          <a:p>
            <a:pPr>
              <a:lnSpc>
                <a:spcPct val="100000"/>
              </a:lnSpc>
            </a:pPr>
            <a:r>
              <a:rPr lang="en-US" sz="1800" cap="none" dirty="0" smtClean="0"/>
              <a:t>Delayed journeys significantly increased refund requests and cancellations. </a:t>
            </a:r>
          </a:p>
          <a:p>
            <a:pPr>
              <a:lnSpc>
                <a:spcPct val="100000"/>
              </a:lnSpc>
            </a:pPr>
            <a:r>
              <a:rPr lang="en-US" sz="1800" cap="none" dirty="0" smtClean="0"/>
              <a:t>The leading causes of delays were: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sz="1800" cap="none" dirty="0" smtClean="0"/>
              <a:t>Signal failures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sz="1800" cap="none" dirty="0" smtClean="0"/>
              <a:t>Staff shortage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sz="1800" cap="none" dirty="0" smtClean="0"/>
              <a:t>Weather disruptions</a:t>
            </a:r>
            <a:endParaRPr lang="en-US" sz="1600" cap="none" dirty="0" smtClean="0"/>
          </a:p>
          <a:p>
            <a:pPr>
              <a:lnSpc>
                <a:spcPct val="100000"/>
              </a:lnSpc>
            </a:pPr>
            <a:r>
              <a:rPr lang="en-US" sz="1800" cap="none" dirty="0" smtClean="0"/>
              <a:t>13% of all journeys experienced delays.</a:t>
            </a:r>
          </a:p>
          <a:p>
            <a:pPr marL="0" indent="0" algn="ctr">
              <a:buNone/>
            </a:pPr>
            <a:r>
              <a:rPr lang="en-US" b="1" dirty="0" smtClean="0"/>
              <a:t>Business Impact</a:t>
            </a:r>
          </a:p>
          <a:p>
            <a:pPr>
              <a:lnSpc>
                <a:spcPct val="100000"/>
              </a:lnSpc>
            </a:pPr>
            <a:r>
              <a:rPr lang="en-US" sz="1800" cap="none" dirty="0" smtClean="0"/>
              <a:t>Reduced customer satisfaction.</a:t>
            </a:r>
          </a:p>
          <a:p>
            <a:pPr>
              <a:lnSpc>
                <a:spcPct val="100000"/>
              </a:lnSpc>
            </a:pPr>
            <a:r>
              <a:rPr lang="en-US" sz="1800" cap="none" dirty="0" smtClean="0"/>
              <a:t>Increase in refund-related revenue losses.</a:t>
            </a:r>
          </a:p>
          <a:p>
            <a:pPr>
              <a:lnSpc>
                <a:spcPct val="100000"/>
              </a:lnSpc>
            </a:pPr>
            <a:r>
              <a:rPr lang="en-US" sz="1800" cap="none" dirty="0" smtClean="0"/>
              <a:t>Operational inefficiencies during peak periods.</a:t>
            </a:r>
          </a:p>
          <a:p>
            <a:endParaRPr lang="en-US" sz="1800" b="1" cap="none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3408" y="1957966"/>
            <a:ext cx="2371725" cy="12382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1046" y="3828361"/>
            <a:ext cx="2276475" cy="123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740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0577"/>
            <a:ext cx="10515600" cy="761926"/>
          </a:xfrm>
        </p:spPr>
        <p:txBody>
          <a:bodyPr>
            <a:normAutofit/>
          </a:bodyPr>
          <a:lstStyle/>
          <a:p>
            <a:pPr algn="ctr"/>
            <a:r>
              <a:rPr lang="en-US" sz="3400" dirty="0" smtClean="0"/>
              <a:t>Revenue Drivers &amp; Customer Behavior</a:t>
            </a:r>
            <a:endParaRPr lang="en-US" sz="3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0618" y="1233488"/>
            <a:ext cx="11520377" cy="5316168"/>
          </a:xfrm>
        </p:spPr>
        <p:txBody>
          <a:bodyPr>
            <a:normAutofit lnSpcReduction="10000"/>
          </a:bodyPr>
          <a:lstStyle/>
          <a:p>
            <a:r>
              <a:rPr lang="en-US" sz="1800" b="1" dirty="0" smtClean="0"/>
              <a:t>Revenue Trends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cap="none" dirty="0" smtClean="0"/>
              <a:t>Total revenue generated: 742K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cap="none" dirty="0" smtClean="0"/>
              <a:t>Morning journeys generated the highest revenue (297K)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cap="none" dirty="0" smtClean="0"/>
              <a:t>Evening journeys generated the second highest revenue (169K)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sz="1800" cap="none" dirty="0" smtClean="0"/>
          </a:p>
          <a:p>
            <a:r>
              <a:rPr lang="en-US" sz="1800" b="1" dirty="0" smtClean="0"/>
              <a:t>Customer Behavior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b="1" dirty="0"/>
              <a:t> </a:t>
            </a:r>
            <a:r>
              <a:rPr lang="en-US" sz="1800" cap="none" dirty="0" smtClean="0"/>
              <a:t>Credit card was the most used payment method.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cap="none" dirty="0" smtClean="0"/>
              <a:t>Major stations with the highest journey traffics include:</a:t>
            </a:r>
          </a:p>
          <a:p>
            <a:pPr marL="914400">
              <a:buFont typeface="Wingdings" panose="05000000000000000000" pitchFamily="2" charset="2"/>
              <a:buChar char="ü"/>
              <a:tabLst>
                <a:tab pos="862013" algn="l"/>
              </a:tabLst>
            </a:pPr>
            <a:r>
              <a:rPr lang="en-US" sz="1800" cap="none" dirty="0" smtClean="0"/>
              <a:t>Manchester Piccadilly Station </a:t>
            </a:r>
          </a:p>
          <a:p>
            <a:pPr marL="914400">
              <a:buFont typeface="Wingdings" panose="05000000000000000000" pitchFamily="2" charset="2"/>
              <a:buChar char="ü"/>
              <a:tabLst>
                <a:tab pos="862013" algn="l"/>
              </a:tabLst>
            </a:pPr>
            <a:r>
              <a:rPr lang="en-US" sz="1800" cap="none" dirty="0" smtClean="0"/>
              <a:t>London Euston Station </a:t>
            </a:r>
          </a:p>
          <a:p>
            <a:pPr marL="914400">
              <a:buFont typeface="Wingdings" panose="05000000000000000000" pitchFamily="2" charset="2"/>
              <a:buChar char="ü"/>
              <a:tabLst>
                <a:tab pos="862013" algn="l"/>
              </a:tabLst>
            </a:pPr>
            <a:r>
              <a:rPr lang="en-US" sz="1800" cap="none" dirty="0" smtClean="0"/>
              <a:t>Birmingham New Street Station </a:t>
            </a:r>
          </a:p>
          <a:p>
            <a:pPr marL="914400">
              <a:buFont typeface="Wingdings" panose="05000000000000000000" pitchFamily="2" charset="2"/>
              <a:buChar char="ü"/>
              <a:tabLst>
                <a:tab pos="862013" algn="l"/>
              </a:tabLst>
            </a:pPr>
            <a:r>
              <a:rPr lang="en-US" sz="1800" cap="none" dirty="0" smtClean="0"/>
              <a:t>Liverpool Lime Street Station</a:t>
            </a:r>
          </a:p>
          <a:p>
            <a:pPr marL="1031875">
              <a:buFont typeface="Wingdings" panose="05000000000000000000" pitchFamily="2" charset="2"/>
              <a:buChar char="ü"/>
            </a:pPr>
            <a:endParaRPr lang="en-US" sz="1800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7931" y="983068"/>
            <a:ext cx="4743450" cy="25527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7931" y="3796931"/>
            <a:ext cx="4743450" cy="275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146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4371"/>
            <a:ext cx="10515600" cy="804457"/>
          </a:xfrm>
        </p:spPr>
        <p:txBody>
          <a:bodyPr>
            <a:normAutofit/>
          </a:bodyPr>
          <a:lstStyle/>
          <a:p>
            <a:pPr algn="ctr"/>
            <a:r>
              <a:rPr lang="en-US" sz="3400" dirty="0" smtClean="0"/>
              <a:t>Recommendations &amp; Focus Areas</a:t>
            </a:r>
            <a:endParaRPr lang="en-US" sz="3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5935" y="988828"/>
            <a:ext cx="11440632" cy="5656521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800" cap="none" dirty="0" smtClean="0"/>
              <a:t>Improving delay management</a:t>
            </a:r>
          </a:p>
          <a:p>
            <a:pPr marL="690563">
              <a:buFont typeface="Wingdings" panose="05000000000000000000" pitchFamily="2" charset="2"/>
              <a:buChar char="ü"/>
            </a:pPr>
            <a:r>
              <a:rPr lang="en-US" sz="1800" cap="none" dirty="0" smtClean="0"/>
              <a:t>Reduce signal-related disruptions</a:t>
            </a:r>
          </a:p>
          <a:p>
            <a:pPr marL="690563">
              <a:buFont typeface="Wingdings" panose="05000000000000000000" pitchFamily="2" charset="2"/>
              <a:buChar char="ü"/>
            </a:pPr>
            <a:r>
              <a:rPr lang="en-US" sz="1800" cap="none" dirty="0" smtClean="0"/>
              <a:t>Deploying additional support staff for travel peak hours (mornings and evenings)</a:t>
            </a:r>
          </a:p>
          <a:p>
            <a:pPr marL="233363" indent="0">
              <a:buNone/>
            </a:pPr>
            <a:r>
              <a:rPr lang="en-US" sz="1800" b="1" cap="none" dirty="0" smtClean="0"/>
              <a:t>Expected outcome</a:t>
            </a:r>
          </a:p>
          <a:p>
            <a:pPr marL="747713" indent="-285750">
              <a:buFont typeface="Wingdings" panose="05000000000000000000" pitchFamily="2" charset="2"/>
              <a:buChar char="ü"/>
            </a:pPr>
            <a:r>
              <a:rPr lang="en-US" sz="1800" cap="none" dirty="0" smtClean="0"/>
              <a:t>Reduction in refund requests and cancellations due to delays.</a:t>
            </a:r>
          </a:p>
          <a:p>
            <a:pPr marL="747713" indent="-285750">
              <a:buFont typeface="Wingdings" panose="05000000000000000000" pitchFamily="2" charset="2"/>
              <a:buChar char="ü"/>
            </a:pPr>
            <a:r>
              <a:rPr lang="en-US" sz="1800" cap="none" dirty="0" smtClean="0"/>
              <a:t>Improved customer satisfaction.</a:t>
            </a:r>
          </a:p>
          <a:p>
            <a:pPr marL="0" indent="0">
              <a:buNone/>
            </a:pPr>
            <a:endParaRPr lang="en-US" sz="1800" cap="none" dirty="0" smtClean="0"/>
          </a:p>
          <a:p>
            <a:pPr marL="0" indent="0">
              <a:buNone/>
            </a:pPr>
            <a:r>
              <a:rPr lang="en-US" sz="1800" cap="none" dirty="0" smtClean="0"/>
              <a:t>2.  Strengthening peak hour operations</a:t>
            </a:r>
          </a:p>
          <a:p>
            <a:pPr marL="627063">
              <a:buFont typeface="Wingdings" panose="05000000000000000000" pitchFamily="2" charset="2"/>
              <a:buChar char="ü"/>
            </a:pPr>
            <a:r>
              <a:rPr lang="en-US" sz="1800" cap="none" dirty="0" smtClean="0"/>
              <a:t>Increased and continuous operational monitoring</a:t>
            </a:r>
          </a:p>
          <a:p>
            <a:pPr marL="627063">
              <a:buFont typeface="Wingdings" panose="05000000000000000000" pitchFamily="2" charset="2"/>
              <a:buChar char="ü"/>
            </a:pPr>
            <a:r>
              <a:rPr lang="en-US" sz="1800" cap="none" dirty="0" smtClean="0"/>
              <a:t>Ensuring availability of enough support staff during peak periods.</a:t>
            </a:r>
          </a:p>
          <a:p>
            <a:pPr marL="233363" indent="0">
              <a:buNone/>
            </a:pPr>
            <a:r>
              <a:rPr lang="en-US" sz="1800" b="1" cap="none" dirty="0" smtClean="0"/>
              <a:t>Expected outcome</a:t>
            </a:r>
          </a:p>
          <a:p>
            <a:pPr marL="690563" indent="-285750">
              <a:buFont typeface="Wingdings" panose="05000000000000000000" pitchFamily="2" charset="2"/>
              <a:buChar char="ü"/>
            </a:pPr>
            <a:r>
              <a:rPr lang="en-US" sz="1800" cap="none" dirty="0" smtClean="0"/>
              <a:t>Protect and secure high revenue periods.</a:t>
            </a:r>
          </a:p>
          <a:p>
            <a:pPr marL="690563" indent="-285750">
              <a:buFont typeface="Wingdings" panose="05000000000000000000" pitchFamily="2" charset="2"/>
              <a:buChar char="ü"/>
            </a:pPr>
            <a:r>
              <a:rPr lang="en-US" sz="1800" cap="none" dirty="0" smtClean="0"/>
              <a:t>Improve service reliability</a:t>
            </a:r>
          </a:p>
          <a:p>
            <a:pPr marL="627063">
              <a:buFont typeface="Wingdings" panose="05000000000000000000" pitchFamily="2" charset="2"/>
              <a:buChar char="ü"/>
            </a:pPr>
            <a:endParaRPr lang="en-US" sz="1800" cap="none" dirty="0" smtClean="0"/>
          </a:p>
          <a:p>
            <a:pPr marL="627063">
              <a:buFont typeface="Wingdings" panose="05000000000000000000" pitchFamily="2" charset="2"/>
              <a:buChar char="ü"/>
            </a:pPr>
            <a:endParaRPr lang="en-US" sz="1800" dirty="0" smtClean="0"/>
          </a:p>
          <a:p>
            <a:pPr marL="338138" indent="-285750"/>
            <a:endParaRPr lang="en-US" sz="1800" dirty="0" smtClean="0"/>
          </a:p>
        </p:txBody>
      </p:sp>
    </p:spTree>
    <p:extLst>
      <p:ext uri="{BB962C8B-B14F-4D97-AF65-F5344CB8AC3E}">
        <p14:creationId xmlns:p14="http://schemas.microsoft.com/office/powerpoint/2010/main" val="226988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364</TotalTime>
  <Words>250</Words>
  <Application>Microsoft Office PowerPoint</Application>
  <PresentationFormat>Widescreen</PresentationFormat>
  <Paragraphs>49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Tw Cen MT</vt:lpstr>
      <vt:lpstr>Wingdings</vt:lpstr>
      <vt:lpstr>Droplet</vt:lpstr>
      <vt:lpstr>RAILWAY TICKET SALES AND JOURNEY PERFORMANCE ANALYSIS</vt:lpstr>
      <vt:lpstr>Business Overview &amp; Key Metrics</vt:lpstr>
      <vt:lpstr>Journey Delays &amp; Operational Challenges</vt:lpstr>
      <vt:lpstr>Revenue Drivers &amp; Customer Behavior</vt:lpstr>
      <vt:lpstr>Recommendations &amp; Focus Areas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RAILWAY TICKET SALES AND JOURNEY PERFORMANCE ANALYSIS</dc:title>
  <dc:creator>USER</dc:creator>
  <cp:lastModifiedBy>USER</cp:lastModifiedBy>
  <cp:revision>23</cp:revision>
  <dcterms:created xsi:type="dcterms:W3CDTF">2026-05-25T10:08:40Z</dcterms:created>
  <dcterms:modified xsi:type="dcterms:W3CDTF">2026-05-26T12:45:00Z</dcterms:modified>
</cp:coreProperties>
</file>